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354259ea1643ee" /><Relationship Type="http://schemas.openxmlformats.org/officeDocument/2006/relationships/extended-properties" Target="/docProps/app.xml" Id="R4f1d016481df471e" /><Relationship Type="http://schemas.openxmlformats.org/officeDocument/2006/relationships/officeDocument" Target="/ppt/presentation.xml" Id="R062ca68ea57845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4fc25ae7df404b"/>
  </p:sldMasterIdLst>
  <p:notesMasterIdLst>
    <p:notesMasterId xmlns:r="http://schemas.openxmlformats.org/officeDocument/2006/relationships" r:id="R76e0da13d0a54a13"/>
  </p:notesMasterIdLst>
  <p:sldIdLst>
    <p:sldId xmlns:r="http://schemas.openxmlformats.org/officeDocument/2006/relationships" id="256" r:id="R3b2617739c8b45b7"/>
    <p:sldId xmlns:r="http://schemas.openxmlformats.org/officeDocument/2006/relationships" id="257" r:id="Ref84995d976140f8"/>
    <p:sldId xmlns:r="http://schemas.openxmlformats.org/officeDocument/2006/relationships" id="258" r:id="R36c01db766574765"/>
    <p:sldId xmlns:r="http://schemas.openxmlformats.org/officeDocument/2006/relationships" id="259" r:id="Re88db51bb78647e2"/>
    <p:sldId xmlns:r="http://schemas.openxmlformats.org/officeDocument/2006/relationships" id="260" r:id="R0ec63483c5b541bb"/>
    <p:sldId xmlns:r="http://schemas.openxmlformats.org/officeDocument/2006/relationships" id="261" r:id="Rcbb9cb6957424385"/>
    <p:sldId xmlns:r="http://schemas.openxmlformats.org/officeDocument/2006/relationships" id="262" r:id="Rab481674cc4e4a45"/>
    <p:sldId xmlns:r="http://schemas.openxmlformats.org/officeDocument/2006/relationships" id="263" r:id="Rf557d21c5f614d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5bb44151dd406a" /><Relationship Type="http://schemas.openxmlformats.org/officeDocument/2006/relationships/slideMaster" Target="/ppt/slideMasters/slideMaster1.xml" Id="R0b4fc25ae7df404b" /><Relationship Type="http://schemas.openxmlformats.org/officeDocument/2006/relationships/notesMaster" Target="/ppt/notesMasters/notesMaster1.xml" Id="R76e0da13d0a54a13" /><Relationship Type="http://schemas.openxmlformats.org/officeDocument/2006/relationships/presProps" Target="/ppt/presProps.xml" Id="R57453247963d4f92" /><Relationship Type="http://schemas.openxmlformats.org/officeDocument/2006/relationships/tableStyles" Target="/ppt/tableStyles.xml" Id="R172938e7a05e4968" /><Relationship Type="http://schemas.openxmlformats.org/officeDocument/2006/relationships/slide" Target="/ppt/slides/slide1.xml" Id="R3b2617739c8b45b7" /><Relationship Type="http://schemas.openxmlformats.org/officeDocument/2006/relationships/slide" Target="/ppt/slides/slide2.xml" Id="Ref84995d976140f8" /><Relationship Type="http://schemas.openxmlformats.org/officeDocument/2006/relationships/slide" Target="/ppt/slides/slide3.xml" Id="R36c01db766574765" /><Relationship Type="http://schemas.openxmlformats.org/officeDocument/2006/relationships/slide" Target="/ppt/slides/slide4.xml" Id="Re88db51bb78647e2" /><Relationship Type="http://schemas.openxmlformats.org/officeDocument/2006/relationships/slide" Target="/ppt/slides/slide5.xml" Id="R0ec63483c5b541bb" /><Relationship Type="http://schemas.openxmlformats.org/officeDocument/2006/relationships/slide" Target="/ppt/slides/slide6.xml" Id="Rcbb9cb6957424385" /><Relationship Type="http://schemas.openxmlformats.org/officeDocument/2006/relationships/slide" Target="/ppt/slides/slide7.xml" Id="Rab481674cc4e4a45" /><Relationship Type="http://schemas.openxmlformats.org/officeDocument/2006/relationships/slide" Target="/ppt/slides/slide8.xml" Id="Rf557d21c5f614d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c98e9c5a7542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c61c087b1e40cd" /><Relationship Type="http://schemas.openxmlformats.org/officeDocument/2006/relationships/notesMaster" Target="/ppt/notesMasters/notesMaster1.xml" Id="Rbfcc7e07d50549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8a8ed1462840e5" /><Relationship Type="http://schemas.openxmlformats.org/officeDocument/2006/relationships/notesMaster" Target="/ppt/notesMasters/notesMaster1.xml" Id="R6cd0075171c34d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0c3ac5da854105" /><Relationship Type="http://schemas.openxmlformats.org/officeDocument/2006/relationships/notesMaster" Target="/ppt/notesMasters/notesMaster1.xml" Id="R7cc2748c963c4b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7f6c543eb742ce" /><Relationship Type="http://schemas.openxmlformats.org/officeDocument/2006/relationships/notesMaster" Target="/ppt/notesMasters/notesMaster1.xml" Id="Rd210d1ba16544f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65c38ae5a24b7a" /><Relationship Type="http://schemas.openxmlformats.org/officeDocument/2006/relationships/notesMaster" Target="/ppt/notesMasters/notesMaster1.xml" Id="Rd17c161c42954a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eda04685b84352" /><Relationship Type="http://schemas.openxmlformats.org/officeDocument/2006/relationships/notesMaster" Target="/ppt/notesMasters/notesMaster1.xml" Id="Rc636988310b342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76e36f05194372" /><Relationship Type="http://schemas.openxmlformats.org/officeDocument/2006/relationships/notesMaster" Target="/ppt/notesMasters/notesMaster1.xml" Id="Rb99741309cae42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11a3ad605e43c5" /><Relationship Type="http://schemas.openxmlformats.org/officeDocument/2006/relationships/notesMaster" Target="/ppt/notesMasters/notesMaster1.xml" Id="Rd455e67eb5854c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讲述范围：本次收敛为 GOTSF 独立工程。旧 Week1 至 Week7 保留备份。当前系统为离线实验和交互分析，不是实时生产告警平台。来源：本地 core 与 assets，docs/第八周_GOTSF项目技术报告.docx。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来源：assets/prediction/data/manifest.json；assets/anomaly/DLPRB/reference_assignments.json；evidence/migration_audit.json。预测最终使用训练加验证的 960 窗口拟合。检测每项跨 90 小区汇总，两个测试段各 168 小时，分开展示。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来源：core/models.py；assets/prediction/models/LSTM/run.json；assets/prediction/data/manifest.json。各时间步共享权重，初始隐藏状态与记忆状态默认零。Adam/MSE；最终固定 80 轮，选择阶段使用验证平均 RMSE 与 patience=12。预测不是多步递归。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来源：evidence/current_prediction_metrics.csv，2026-10-03 本机 CPU 复算。MAE/RMSE 在 Z-score 尺度；不是物理误差单位。输入沿用原全源统计预处理，存在信息泄漏局限，不能作为严格部署基准，也不证明优于所有其他算法。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实际截图：week7/用户说明书制作/screenshots/02_prediction_result.png，原系统操作记录。新工程保留同一交互流程，自动化页面测试通过。演示顺序：自定义输入，第一测试窗口，DLPRB 最后 3 小时加 0.30，点击应用后再预测。解释原始预测、当前预测与变化量；0.30 是 Z-score，不是 30%。支持恢复、下载和历史结果筛选。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实际截图：week7/用户说明书制作/screenshots/07_custom_anomaly_result.png。场景：孤立森林，0_0 小区，test_5w-6w，小时 840，把 DLPRB 改为 2；分数约 -0.1026→0.2945，有效阈值约 0.1464。其他 3 项不变。系统支持 3σ、IQR、孤立森林、One-Class SVM。每项独立检测，记录级任一异常即异常；分数不是概率，缺失状态不强行判正常。来源：core/anomaly.py、tests/test_system.py。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来源：evidence/root_cause_case.csv；原第六周_异常根因分析报告.docx GOTSF 案例。对象 1_1，One-Class SVM，事件 1724 至 1750，共 27 点。87 点邻域残差 Spearman：传输量与传输时间 rho=0.924，Bonferroni 164 比较后 p=7.954e-14，区间 [0.714,0.981]，沿用原实验口径。本版是离线案例，不是网页自动因果诊断。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来源：evidence/migration_audit.json；evidence/test_summary.json；README.md；docs/整理与数据来源.md。新旧代码同 CPU 推理差异为 0，原 GPU 档案最大差约 5.63e-6。没有新电脑全新安装或生产并发压测。用户确认只交付本地 Git 仓库、bundle 和 ZIP，不上传 GitHub。后续公开前核实数据再分发条款。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702c9586742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22002631a54b6e" /><Relationship Type="http://schemas.openxmlformats.org/officeDocument/2006/relationships/slideLayout" Target="/ppt/slideLayouts/slideLayout1.xml" Id="Rfee2a1f573a24f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e2a1f573a24f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2ae0bcabc4c08" /><Relationship Type="http://schemas.openxmlformats.org/officeDocument/2006/relationships/notesSlide" Target="/ppt/notesSlides/notesSlide1.xml" Id="R25323df3049c4c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b0442bdde4129" /><Relationship Type="http://schemas.openxmlformats.org/officeDocument/2006/relationships/notesSlide" Target="/ppt/notesSlides/notesSlide2.xml" Id="R49fe05591fcf46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72cf2f25a4c0d" /><Relationship Type="http://schemas.openxmlformats.org/officeDocument/2006/relationships/notesSlide" Target="/ppt/notesSlides/notesSlide3.xml" Id="R01353b59df2e46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e03df47e343e1" /><Relationship Type="http://schemas.openxmlformats.org/officeDocument/2006/relationships/notesSlide" Target="/ppt/notesSlides/notesSlide4.xml" Id="R953f574b259241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14accc5544aa4" /><Relationship Type="http://schemas.openxmlformats.org/officeDocument/2006/relationships/image" Target="/ppt/media/image.jpeg" Id="R9ea868baf3034b84" /><Relationship Type="http://schemas.openxmlformats.org/officeDocument/2006/relationships/notesSlide" Target="/ppt/notesSlides/notesSlide5.xml" Id="R900a4ca5b3484f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3ace9586d451c" /><Relationship Type="http://schemas.openxmlformats.org/officeDocument/2006/relationships/image" Target="/ppt/media/image2.jpeg" Id="R904ddac074e845ba" /><Relationship Type="http://schemas.openxmlformats.org/officeDocument/2006/relationships/notesSlide" Target="/ppt/notesSlides/notesSlide6.xml" Id="Rdf0f4459795b4f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fc328efea48b4" /><Relationship Type="http://schemas.openxmlformats.org/officeDocument/2006/relationships/notesSlide" Target="/ppt/notesSlides/notesSlide7.xml" Id="R0e99262efb5446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19275219a48c3" /><Relationship Type="http://schemas.openxmlformats.org/officeDocument/2006/relationships/notesSlide" Target="/ppt/notesSlides/notesSlide8.xml" Id="Rab57e13d343343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92DF3-7AB6-4154-AA2B-2A167733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GOTSF KPI 预测与异常检测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1737E-DA02-43ED-BFFF-ACB87A64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rPr>
              <a:t>项目总结与交互演示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83259-FD4C-4F29-82BB-F551C6BB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4 项 KPI  ·  LSTM 联合预测  ·  4 种异常检测方法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160AB-55DD-482D-BE9D-70533CF0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007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第八周交付  |  2026 年 10 月</a:t>
            </a:r>
          </a:p>
        </p:txBody>
      </p:sp>
    </p:spTree>
    <p:extLst>
      <p:ext uri="{BB962C8B-B14F-4D97-AF65-F5344CB8AC3E}">
        <p14:creationId xmlns:p14="http://schemas.microsoft.com/office/powerpoint/2010/main" val="207137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60A69-1A53-43B2-A17F-82766B6B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两项任务使用不同粒度的数据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191000"/>
                <a:gridCol w="478155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KPI 预测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异常检测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数据粒度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网络级小时汇总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 个小区的小时波束均值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输入尺度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 × 4 个 Z-score 数值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单小时 4 个源尺度观测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 / 验证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816 / 144 个窗口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60,480 / 15,120 点每 KPI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144 个一步预测窗口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30,240 点每 KPI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11498-6FE6-4361-B51A-A0C97B4A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rPr>
              <a:t>检测先去除日周期；它检测的是观测或假设输入，不是 LSTM 预测值。</a:t>
            </a:r>
          </a:p>
        </p:txBody>
      </p:sp>
    </p:spTree>
    <p:extLst>
      <p:ext uri="{BB962C8B-B14F-4D97-AF65-F5344CB8AC3E}">
        <p14:creationId xmlns:p14="http://schemas.microsoft.com/office/powerpoint/2010/main" val="842514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7DD08-61D5-40E8-B098-A16A9B5D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LSTM 如何完成下一小时预测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9F8A-95E6-4DE0-88D6-2E0F8FD5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过去 24 小时 × 4 项 KPI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64198-5BF1-4301-A306-76E88ED2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rPr>
              <a:t>按小时读入 → 32 维 LSTM 状态 → 线性层 → 下一小时 4 项预测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E3E84-41DE-415E-BA51-72E0EF00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单层、单向，共 4,996 个可训练参数。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B2866-87CC-4DDF-9C59-1D0939CB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5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Adam + 均方误差；学习率 0.003，最终拟合 80 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EFF34-F62A-44AE-99AB-F1347090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网页加载 seed 42 的冻结权重，用户编辑输入不会重新训练。</a:t>
            </a:r>
          </a:p>
        </p:txBody>
      </p:sp>
    </p:spTree>
    <p:extLst>
      <p:ext uri="{BB962C8B-B14F-4D97-AF65-F5344CB8AC3E}">
        <p14:creationId xmlns:p14="http://schemas.microsoft.com/office/powerpoint/2010/main" val="2034434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2E406-3C63-458F-9482-2505E388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144 个历史窗口的预测结果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514600"/>
                <a:gridCol w="2514600"/>
                <a:gridCol w="25146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KPI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MAE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RMSE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R²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DLPRB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0.0444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0.9581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DLThpVol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0.0322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0.0412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0.9524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DLThpTime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0.0368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0.0470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0.9673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MR_number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0.0436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0.0564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0.9750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714A7-7296-4624-B918-424EAE23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005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误差单位为 Z-score；本表使用完整测试集，不是筛选后的子集。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E48D0-9B37-4615-901D-3692DD4E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限制：沿用前期全源统计预处理，结果用于复核，不是无泄漏部署基准。</a:t>
            </a:r>
          </a:p>
        </p:txBody>
      </p:sp>
    </p:spTree>
    <p:extLst>
      <p:ext uri="{BB962C8B-B14F-4D97-AF65-F5344CB8AC3E}">
        <p14:creationId xmlns:p14="http://schemas.microsoft.com/office/powerpoint/2010/main" val="7168004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58B16-E2E3-4E8E-B5E6-5DFDE6C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演示一  修改历史输入并比较预测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a868baf3034b84"/>
          <a:stretch xmlns:a="http://schemas.openxmlformats.org/drawingml/2006/main"/>
        </p:blipFill>
        <p:spPr>
          <a:xfrm xmlns:a="http://schemas.openxmlformats.org/drawingml/2006/main">
            <a:off x="1314450" y="1096566"/>
            <a:ext cx="9563100" cy="53792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371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62735-930B-4E2D-9DCB-09643442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演示二  修改观测并查看异常判定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ddac074e845ba"/>
          <a:stretch xmlns:a="http://schemas.openxmlformats.org/drawingml/2006/main"/>
        </p:blipFill>
        <p:spPr>
          <a:xfrm xmlns:a="http://schemas.openxmlformats.org/drawingml/2006/main">
            <a:off x="1314450" y="1096566"/>
            <a:ext cx="9563100" cy="53792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235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F7643-EAB7-4FD7-A974-1CA702A5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典型事件  传输量与传输时间持续偏高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63366-50D2-4C1D-94FC-66982379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小区 1_1  ·  1724 至 1750 小时  ·  One-Class SVM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3429000"/>
                <a:gridCol w="35433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KPI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事件内异常点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事件峰值小时</a:t>
                      </a:r>
                    </a:p>
                  </a:txBody>
                  <a:tcPr marL="133350" marR="133350" marT="95250" marB="95250" anchor="ctr">
                    <a:solidFill>
                      <a:srgbClr val="E8EFF5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DLThpVol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 / 27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1741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DLThpTime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 / 27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1732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DLPRB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/ 27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1727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MR_number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/ 27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2C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1745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76D16-1B6F-4F7A-9F7E-B218A398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rPr>
              <a:t>优先核查业务量与调度变化，再看排队、时延、丢包和采集日志。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58C46-0C91-48E4-8891-D0839E33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共同变化是排查线索，不能直接认定拥塞、攻击或用户激增。</a:t>
            </a:r>
          </a:p>
        </p:txBody>
      </p:sp>
    </p:spTree>
    <p:extLst>
      <p:ext uri="{BB962C8B-B14F-4D97-AF65-F5344CB8AC3E}">
        <p14:creationId xmlns:p14="http://schemas.microsoft.com/office/powerpoint/2010/main" val="17643431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2854B-846A-46BE-B317-391AEFAC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交付结果与验证边界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F672F-B606-4D52-ADE6-903B5C85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独立 GOTSF 工程、技术报告、操作说明和演示 PPT。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D526D-E69A-4F2C-B51E-D19E4A3B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336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52C43"/>
                </a:solidFill>
                <a:latin typeface="Microsoft YaHei"/>
                <a:ea typeface="Microsoft YaHei"/>
                <a:cs typeface="Microsoft YaHei"/>
              </a:rPr>
              <a:t>本地 Git 仓库 + Git bundle + ZIP；旧代码保留，不上传 GitHub。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1E0BF-A6C9-4585-94D6-9EDAACB5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45B87"/>
                </a:solidFill>
                <a:latin typeface="Microsoft YaHei"/>
                <a:ea typeface="Microsoft YaHei"/>
                <a:cs typeface="Microsoft YaHei"/>
              </a:rPr>
              <a:t>144 个预测窗口、483,840 次异常判定完成新旧核对；12 项测试通过。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0E3CD-457E-4910-BA61-B283DD41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474"/>
                </a:solidFill>
                <a:latin typeface="Microsoft YaHei"/>
                <a:ea typeface="Microsoft YaHei"/>
                <a:cs typeface="Microsoft YaHei"/>
              </a:rPr>
              <a:t>下一步：训练期独立拟合预处理；补充真实故障标签和日志；再评估部署。</a:t>
            </a:r>
          </a:p>
        </p:txBody>
      </p:sp>
    </p:spTree>
    <p:extLst>
      <p:ext uri="{BB962C8B-B14F-4D97-AF65-F5344CB8AC3E}">
        <p14:creationId xmlns:p14="http://schemas.microsoft.com/office/powerpoint/2010/main" val="11765874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2026-10-02T18:08:37.6150000Z</dcterms:created>
  <dcterms:modified xsi:type="dcterms:W3CDTF">2026-10-02T18:08:37.6150000Z</dcterms:modified>
</coreProperties>
</file>