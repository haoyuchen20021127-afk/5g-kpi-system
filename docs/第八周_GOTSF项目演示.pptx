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讲述范围：本次收敛为 GOTSF 独立工程。旧 Week1 至 Week7 保留备份。当前系统为离线实验和交互分析，不是实时生产告警平台。来源：本地 core 与 assets，docs/第八周_GOTSF项目技术报告.docx。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来源：assets/prediction/data/manifest.json；assets/anomaly/DLPRB/reference_assignments.json；evidence/migration_audit.json。预测最终使用训练加验证的 960 窗口拟合。检测每项跨 90 小区汇总，两个测试段各 168 小时，分开展示。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来源：core/models.py；assets/prediction/models/LSTM/run.json；assets/prediction/data/manifest.json。各时间步共享权重，初始隐藏状态与记忆状态默认零。Adam/MSE；最终固定 80 轮，选择阶段使用验证平均 RMSE 与 patience=12。预测不是多步递归。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来源：evidence/current_prediction_metrics.csv，2026-10-03 本机 CPU 复算。MAE/RMSE 在 Z-score 尺度；不是物理误差单位。输入沿用原全源统计预处理，存在信息泄漏局限，不能作为严格部署基准，也不证明优于所有其他算法。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实际截图：week7/用户说明书制作/screenshots/02_prediction_result.png，原系统操作记录。新工程保留同一交互流程，自动化页面测试通过。演示顺序：自定义输入，第一测试窗口，DLPRB 最后 3 小时加 0.30，点击应用后再预测。解释原始预测、当前预测与变化量；0.30 是 Z-score，不是 30%。支持恢复、下载和历史结果筛选。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实际截图：week7/用户说明书制作/screenshots/07_custom_anomaly_result.png。场景：孤立森林，0_0 小区，test_5w-6w，小时 840，把 DLPRB 改为 2；分数约 -0.1026→0.2945，有效阈值约 0.1464。其他 3 项不变。系统支持 3σ、IQR、孤立森林、One-Class SVM。每项独立检测，记录级任一异常即异常；分数不是概率，缺失状态不强行判正常。来源：core/anomaly.py、tests/test_system.py。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来源：evidence/root_cause_case.csv；原第六周_异常根因分析报告.docx GOTSF 案例。对象 1_1，One-Class SVM，事件 1724 至 1750，共 27 点。87 点邻域残差 Spearman：传输量与传输时间 rho=0.924，Bonferroni 164 比较后 p=7.954e-14，区间 [0.714,0.981]，沿用原实验口径。本版是离线案例，不是网页自动因果诊断。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来源：evidence/migration_audit.json；evidence/test_summary.json；README.md；docs/整理与数据来源.md。新旧代码同 CPU 推理差异为 0，原 GPU 档案最大差约 5.63e-6。没有新电脑全新安装或生产并发压测。用户确认只交付本地 Git 仓库、bundle 和 ZIP，不上传 GitHub。后续公开前核实数据再分发条款。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85800" y="15240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GOTSF KPI 预测与异常检测</a:t>
            </a:r>
            <a:endParaRPr sz="37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2714625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项目总结与交互演示</a:t>
            </a:r>
            <a:endParaRPr sz="2550" b="0">
              <a:solidFill>
                <a:srgbClr val="245B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3810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项 KPI  ·  LSTM 联合预测  ·  4 种异常检测方法</a:t>
            </a:r>
            <a:endParaRPr sz="2025" b="0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56007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第八周交付  |  2026 年 10 月</a:t>
            </a:r>
            <a:endParaRPr sz="1725" b="0">
              <a:solidFill>
                <a:srgbClr val="53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两项任务使用不同粒度的数据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428750"/>
          <a:ext cx="10972800" cy="2762250"/>
        </p:xfrm>
        <a:graphic>
          <a:graphicData uri="http://schemas.openxmlformats.org/drawingml/2006/table">
            <a:tbl>
              <a:tblPr/>
              <a:tblGrid>
                <a:gridCol w="2000250"/>
                <a:gridCol w="4191000"/>
                <a:gridCol w="4781550"/>
              </a:tblGrid>
              <a:tr h="552450">
                <a:tc>
                  <a:txBody>
                    <a:bodyPr/>
                    <a:lstStyle/>
                    <a:p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 预测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异常检测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数据粒度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网络级小时汇总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 个小区的小时波束均值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输入尺度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 × 4 个 Z-score 数值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单小时 4 个源尺度观测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/ 验证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816 / 144 个窗口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60,480 / 15,120 点每 KPI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144 个一步预测窗口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30,240 点每 KPI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LSTM 如何完成下一小时预测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58115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过去 24 小时 × 4 项 KPI</a:t>
            </a:r>
            <a:endParaRPr sz="2475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2457450"/>
            <a:ext cx="10763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按小时读入 → 32 维 LSTM 状态 → 线性层 → 下一小时 4 项预测</a:t>
            </a:r>
            <a:endParaRPr sz="2250" b="0">
              <a:solidFill>
                <a:srgbClr val="245B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371475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单层、单向，共 4,996 个可训练参数。</a:t>
            </a:r>
            <a:endParaRPr sz="2175" b="0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445770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Adam + 均方误差；学习率 0.003，最终拟合 80 轮。</a:t>
            </a:r>
            <a:endParaRPr sz="2175" b="0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542925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网页加载 seed 42 的冻结权重，用户编辑输入不会重新训练。</a:t>
            </a:r>
            <a:endParaRPr sz="2025" b="0">
              <a:solidFill>
                <a:srgbClr val="53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144 个历史窗口的预测结果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1428750"/>
          <a:ext cx="10972800" cy="2762250"/>
        </p:xfrm>
        <a:graphic>
          <a:graphicData uri="http://schemas.openxmlformats.org/drawingml/2006/table">
            <a:tbl>
              <a:tblPr/>
              <a:tblGrid>
                <a:gridCol w="3429000"/>
                <a:gridCol w="2514600"/>
                <a:gridCol w="2514600"/>
                <a:gridCol w="25146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0.0444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0.0590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0.9581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DLThpVol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0.0322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0.0412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0.9524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DLThpTime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0.0368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0.0470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0.9673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MR_number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0.0436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0.0564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0.9750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>
            <a:spLocks noGrp="1"/>
          </p:cNvSpPr>
          <p:nvPr/>
        </p:nvSpPr>
        <p:spPr>
          <a:xfrm>
            <a:off x="628650" y="460057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误差单位为 Z-score；本表使用完整测试集。</a:t>
            </a:r>
            <a:endParaRPr sz="1950" b="0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演示一  修改历史输入并比较预测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1096566"/>
            <a:ext cx="9563100" cy="53792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演示二  修改观测并查看异常判定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1096566"/>
            <a:ext cx="9563100" cy="5379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典型事件  传输量与传输时间持续偏高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2573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小区 1_1  ·  1724 至 1750 小时  ·  One-Class SVM</a:t>
            </a:r>
            <a:endParaRPr sz="2025" b="0">
              <a:solidFill>
                <a:srgbClr val="53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47875"/>
          <a:ext cx="10972800" cy="2762250"/>
        </p:xfrm>
        <a:graphic>
          <a:graphicData uri="http://schemas.openxmlformats.org/drawingml/2006/table">
            <a:tbl>
              <a:tblPr/>
              <a:tblGrid>
                <a:gridCol w="4000500"/>
                <a:gridCol w="3429000"/>
                <a:gridCol w="35433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KPI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事件内异常点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事件峰值小时</a:t>
                      </a:r>
                      <a:endParaRPr sz="1875" b="1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E8EF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DLThpVol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 / 27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1741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DLThpTime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 / 27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1732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DLPRB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/ 27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1727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MR_number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27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C4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1745</a:t>
                      </a:r>
                      <a:endParaRPr sz="1875">
                        <a:solidFill>
                          <a:srgbClr val="152C4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628650" y="50768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优先核查业务量与调度变化，再看排队、时延、丢包和采集日志。</a:t>
            </a:r>
            <a:endParaRPr sz="2025" b="0">
              <a:solidFill>
                <a:srgbClr val="245B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58578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共同变化是排查线索，不能直接认定拥塞、攻击或用户激增。</a:t>
            </a:r>
            <a:endParaRPr sz="1875" b="0">
              <a:solidFill>
                <a:srgbClr val="53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810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交付结果与验证边界</a:t>
            </a:r>
            <a:endParaRPr sz="28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524000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GOTSF 工程、技术报告、操作说明和演示 PPT。</a:t>
            </a:r>
            <a:endParaRPr sz="2250" b="1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253365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52C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Git 仓库 + Git bundle + ZIP；旧代码保留，不上传 GitHub。</a:t>
            </a:r>
            <a:endParaRPr sz="2175" b="0">
              <a:solidFill>
                <a:srgbClr val="152C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3733800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5B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144 个预测窗口、483,840 次异常判定完成新旧核对；12 项测试通过。</a:t>
            </a:r>
            <a:endParaRPr sz="2175" b="0">
              <a:solidFill>
                <a:srgbClr val="245B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5219700"/>
            <a:ext cx="10763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下一步：训练期独立拟合预处理；补充真实故障标签和日志；再评估部署。</a:t>
            </a:r>
            <a:endParaRPr sz="2025" b="0">
              <a:solidFill>
                <a:srgbClr val="53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WPS 演示</Application>
  <PresentationFormat>Converted Presentation</PresentationFormat>
  <Paragraphs>146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chen.</cp:lastModifiedBy>
  <cp:revision>1</cp:revision>
  <dcterms:created xsi:type="dcterms:W3CDTF">2026-10-04T11:16:08Z</dcterms:created>
  <dcterms:modified xsi:type="dcterms:W3CDTF">2026-10-04T11:16:08Z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739B17899F2F4B07803F1074E21D3F5B_12</vt:lpwstr>
  </property>
  <property fmtid="{D5CDD505-2E9C-101B-9397-08002B2CF9AE}" pid="3" name="KSOProductBuildVer">
    <vt:lpwstr>2052-12.1.0.28505</vt:lpwstr>
  </property>
</Properties>
</file>